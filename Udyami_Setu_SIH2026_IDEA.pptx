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UDYAMI SETU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en-US" dirty="0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(fill from SIH portal)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 Single-window platform for industrial approvals, compliance &amp; government support services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 (fill from SIH portal)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 Software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 (fill from SIH portal)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portal):  (your team name)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UDYAMI SETU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71" name="s2hdr"/>
          <p:cNvSpPr txBox="1"/>
          <p:nvPr/>
        </p:nvSpPr>
        <p:spPr>
          <a:xfrm>
            <a:off x="380000" y="1285000"/>
            <a:ext cx="1143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Proposed Solution  </a:t>
            </a:r>
            <a:r>
              <a:rPr lang="en-US" sz="1200" b="0" i="0" dirty="0">
                <a:solidFill>
                  <a:srgbClr val="808080"/>
                </a:solidFill>
                <a:latin typeface="Arial" pitchFamily="34" charset="0"/>
                <a:cs typeface="Arial" pitchFamily="34" charset="0"/>
              </a:rPr>
              <a:t xml:space="preserve">— one guided, time-bound journey that replaces dozens of scattered licence processes.</a:t>
            </a:r>
          </a:p>
        </p:txBody>
      </p:sp>
      <p:sp>
        <p:nvSpPr>
          <p:cNvPr id="15372" name="s2left"/>
          <p:cNvSpPr txBox="1"/>
          <p:nvPr/>
        </p:nvSpPr>
        <p:spPr>
          <a:xfrm>
            <a:off x="380000" y="1700000"/>
            <a:ext cx="6120000" cy="35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>
            <a:outerShdw blurRad="40000" dist="20000" dir="5400000" rotWithShape="0">
              <a:srgbClr val="808080">
                <a:alpha val="38000"/>
              </a:srgbClr>
            </a:outerShdw>
          </a:effectLst>
        </p:spPr>
        <p:txBody>
          <a:bodyPr wrap="square" lIns="137000" tIns="110000" rIns="137000" bIns="9500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400" b="1" i="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What it is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200" b="0" i="0" dirty="0">
                <a:latin typeface="Arial" pitchFamily="34" charset="0"/>
                <a:cs typeface="Arial" pitchFamily="34" charset="0"/>
              </a:rPr>
              <a:t xml:space="preserve">A single web portal that replaces dozens of scattered licence processes with </a:t>
            </a:r>
            <a:r>
              <a:rPr lang="en-US" sz="120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one guided, time-bound journey</a:t>
            </a:r>
            <a:r>
              <a:rPr lang="en-US" sz="1200" b="0" i="0" dirty="0">
                <a:latin typeface="Arial" pitchFamily="34" charset="0"/>
                <a:cs typeface="Arial" pitchFamily="34" charset="0"/>
              </a:rPr>
              <a:t xml:space="preserve">.</a:t>
            </a:r>
          </a:p>
          <a:p>
            <a:pPr algn="l">
              <a:spcBef>
                <a:spcPts val="250"/>
              </a:spcBef>
              <a:spcAft>
                <a:spcPts val="350"/>
              </a:spcAft>
              <a:buNone/>
            </a:pPr>
            <a:r>
              <a:rPr lang="en-US" sz="1400" b="1" i="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How it works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Know-Your-Approval</a:t>
            </a:r>
            <a:r>
              <a:rPr lang="en-US" sz="1200" b="0" i="0" dirty="0">
                <a:latin typeface="Arial" pitchFamily="34" charset="0"/>
                <a:cs typeface="Arial" pitchFamily="34" charset="0"/>
              </a:rPr>
              <a:t xml:space="preserve">: answer a few questions and instantly get the exact licences / NOCs needed — each tagged </a:t>
            </a:r>
            <a:r>
              <a:rPr lang="en-US" sz="120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self-certify or inspection</a:t>
            </a:r>
            <a:r>
              <a:rPr lang="en-US" sz="1200" b="0" i="0" dirty="0">
                <a:latin typeface="Arial" pitchFamily="34" charset="0"/>
                <a:cs typeface="Arial" pitchFamily="34" charset="0"/>
              </a:rPr>
              <a:t xml:space="preserve">, with the reason and legal deadline.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One-click filing</a:t>
            </a:r>
            <a:r>
              <a:rPr lang="en-US" sz="1200" b="0" i="0" dirty="0">
                <a:latin typeface="Arial" pitchFamily="34" charset="0"/>
                <a:cs typeface="Arial" pitchFamily="34" charset="0"/>
              </a:rPr>
              <a:t xml:space="preserve">: self-certifiable approvals auto-approve at once; the rest route to the right departments with </a:t>
            </a:r>
            <a:r>
              <a:rPr lang="en-US" sz="120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live SLA timers</a:t>
            </a:r>
            <a:r>
              <a:rPr lang="en-US" sz="1200" b="0" i="0" dirty="0">
                <a:latin typeface="Arial" pitchFamily="34" charset="0"/>
                <a:cs typeface="Arial" pitchFamily="34" charset="0"/>
              </a:rPr>
              <a:t xml:space="preserve">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200" b="0" i="0" dirty="0">
                <a:latin typeface="Arial" pitchFamily="34" charset="0"/>
                <a:cs typeface="Arial" pitchFamily="34" charset="0"/>
              </a:rPr>
              <a:t xml:space="preserve">Coordinated inspection bundles many site visits into one; live dashboards for the applicant, officer and state.</a:t>
            </a:r>
          </a:p>
        </p:txBody>
      </p:sp>
      <p:sp>
        <p:nvSpPr>
          <p:cNvPr id="15373" name="s2right"/>
          <p:cNvSpPr txBox="1"/>
          <p:nvPr/>
        </p:nvSpPr>
        <p:spPr>
          <a:xfrm>
            <a:off x="6800000" y="1700000"/>
            <a:ext cx="5012000" cy="35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79646"/>
            </a:solidFill>
          </a:ln>
          <a:effectLst>
            <a:outerShdw blurRad="40000" dist="20000" dir="5400000" rotWithShape="0">
              <a:srgbClr val="808080">
                <a:alpha val="38000"/>
              </a:srgbClr>
            </a:outerShdw>
          </a:effectLst>
        </p:spPr>
        <p:txBody>
          <a:bodyPr wrap="square" lIns="137000" tIns="110000" rIns="137000" bIns="9500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400" b="1" i="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Innovation &amp; uniqueness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Rules-as-data engine</a:t>
            </a:r>
            <a:r>
              <a:rPr lang="en-US" sz="1200" b="0" i="0" dirty="0">
                <a:latin typeface="Arial" pitchFamily="34" charset="0"/>
                <a:cs typeface="Arial" pitchFamily="34" charset="0"/>
              </a:rPr>
              <a:t xml:space="preserve"> — regulations stored as editable data, not code; add a licence or a state by adding a row. </a:t>
            </a:r>
            <a:r>
              <a:rPr lang="en-US" sz="120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Deterministic and auditable</a:t>
            </a:r>
            <a:r>
              <a:rPr lang="en-US" sz="1200" b="0" i="0" dirty="0">
                <a:latin typeface="Arial" pitchFamily="34" charset="0"/>
                <a:cs typeface="Arial" pitchFamily="34" charset="0"/>
              </a:rPr>
              <a:t xml:space="preserve"> — no AI guessing the law.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Deemed approval + enforceable SLAs</a:t>
            </a:r>
            <a:r>
              <a:rPr lang="en-US" sz="1200" b="0" i="0" dirty="0">
                <a:latin typeface="Arial" pitchFamily="34" charset="0"/>
                <a:cs typeface="Arial" pitchFamily="34" charset="0"/>
              </a:rPr>
              <a:t xml:space="preserve"> (like Telangana TS-iPASS): miss the deadline and it is auto-approved — government delay can no longer block the entrepreneur.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Answer-once onboarding</a:t>
            </a:r>
            <a:r>
              <a:rPr lang="en-US" sz="1200" b="0" i="0" dirty="0">
                <a:latin typeface="Arial" pitchFamily="34" charset="0"/>
                <a:cs typeface="Arial" pitchFamily="34" charset="0"/>
              </a:rPr>
              <a:t xml:space="preserve"> ends repeated form-filling across departments.</a:t>
            </a:r>
          </a:p>
        </p:txBody>
      </p:sp>
      <p:sp>
        <p:nvSpPr>
          <p:cNvPr id="15374" name="s2strip"/>
          <p:cNvSpPr txBox="1"/>
          <p:nvPr/>
        </p:nvSpPr>
        <p:spPr>
          <a:xfrm>
            <a:off x="380000" y="5360000"/>
            <a:ext cx="11432000" cy="7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9525">
            <a:solidFill>
              <a:srgbClr val="4F81BD"/>
            </a:solidFill>
          </a:ln>
        </p:spPr>
        <p:txBody>
          <a:bodyPr wrap="square" lIns="91440" tIns="68580" rIns="91440" bIns="6858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Answer once, reuse everywhere</a:t>
            </a:r>
            <a:r>
              <a:rPr lang="en-US" sz="1250" b="0" i="0" dirty="0">
                <a:solidFill>
                  <a:srgbClr val="F79646"/>
                </a:solidFill>
                <a:latin typeface="Arial" pitchFamily="34" charset="0"/>
                <a:cs typeface="Arial" pitchFamily="34" charset="0"/>
              </a:rPr>
              <a:t xml:space="preserve">       •       </a:t>
            </a:r>
            <a:r>
              <a:rPr lang="en-US" sz="12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Deemed approval kills delay</a:t>
            </a:r>
            <a:r>
              <a:rPr lang="en-US" sz="1250" b="0" i="0" dirty="0">
                <a:solidFill>
                  <a:srgbClr val="F79646"/>
                </a:solidFill>
                <a:latin typeface="Arial" pitchFamily="34" charset="0"/>
                <a:cs typeface="Arial" pitchFamily="34" charset="0"/>
              </a:rPr>
              <a:t xml:space="preserve">       •       </a:t>
            </a:r>
            <a:r>
              <a:rPr lang="en-US" sz="12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Rules-as-data, fully auditable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21" name="flowtext17421"/>
          <p:cNvSpPr txBox="1"/>
          <p:nvPr/>
        </p:nvSpPr>
        <p:spPr>
          <a:xfrm>
            <a:off x="460000" y="3170000"/>
            <a:ext cx="9000000" cy="3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300" b="1" i="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The applicant’s journey — one guided, time-bound flow</a:t>
            </a:r>
          </a:p>
        </p:txBody>
      </p:sp>
      <p:sp>
        <p:nvSpPr>
          <p:cNvPr id="17422" name="flowbox17422"/>
          <p:cNvSpPr/>
          <p:nvPr/>
        </p:nvSpPr>
        <p:spPr>
          <a:xfrm>
            <a:off x="460000" y="3620000"/>
            <a:ext cx="1900000" cy="1080000"/>
          </a:xfrm>
          <a:prstGeom prst="roundRect">
            <a:avLst>
              <a:gd name="adj" fmla="val 11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Answer a few questions</a:t>
            </a:r>
          </a:p>
        </p:txBody>
      </p:sp>
      <p:sp>
        <p:nvSpPr>
          <p:cNvPr id="17423" name="flowarrow17423"/>
          <p:cNvSpPr/>
          <p:nvPr/>
        </p:nvSpPr>
        <p:spPr>
          <a:xfrm>
            <a:off x="2395000" y="4035000"/>
            <a:ext cx="380000" cy="250000"/>
          </a:xfrm>
          <a:prstGeom prst="rightArrow">
            <a:avLst/>
          </a:prstGeom>
          <a:solidFill>
            <a:srgbClr val="F796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24" name="flowbox17424"/>
          <p:cNvSpPr/>
          <p:nvPr/>
        </p:nvSpPr>
        <p:spPr>
          <a:xfrm>
            <a:off x="2810000" y="3620000"/>
            <a:ext cx="1900000" cy="1080000"/>
          </a:xfrm>
          <a:prstGeom prst="roundRect">
            <a:avLst>
              <a:gd name="adj" fmla="val 11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Exact checklist (KYA)</a:t>
            </a:r>
          </a:p>
        </p:txBody>
      </p:sp>
      <p:sp>
        <p:nvSpPr>
          <p:cNvPr id="17425" name="flowarrow17425"/>
          <p:cNvSpPr/>
          <p:nvPr/>
        </p:nvSpPr>
        <p:spPr>
          <a:xfrm>
            <a:off x="4745000" y="4035000"/>
            <a:ext cx="380000" cy="250000"/>
          </a:xfrm>
          <a:prstGeom prst="rightArrow">
            <a:avLst/>
          </a:prstGeom>
          <a:solidFill>
            <a:srgbClr val="F796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26" name="flowbox17426"/>
          <p:cNvSpPr/>
          <p:nvPr/>
        </p:nvSpPr>
        <p:spPr>
          <a:xfrm>
            <a:off x="5160000" y="3620000"/>
            <a:ext cx="1900000" cy="1080000"/>
          </a:xfrm>
          <a:prstGeom prst="roundRect">
            <a:avLst>
              <a:gd name="adj" fmla="val 11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One-click filing</a:t>
            </a:r>
          </a:p>
        </p:txBody>
      </p:sp>
      <p:sp>
        <p:nvSpPr>
          <p:cNvPr id="17427" name="flowarrow17427"/>
          <p:cNvSpPr/>
          <p:nvPr/>
        </p:nvSpPr>
        <p:spPr>
          <a:xfrm>
            <a:off x="7095000" y="4035000"/>
            <a:ext cx="380000" cy="250000"/>
          </a:xfrm>
          <a:prstGeom prst="rightArrow">
            <a:avLst/>
          </a:prstGeom>
          <a:solidFill>
            <a:srgbClr val="F796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28" name="flowbox17428"/>
          <p:cNvSpPr/>
          <p:nvPr/>
        </p:nvSpPr>
        <p:spPr>
          <a:xfrm>
            <a:off x="7510000" y="3620000"/>
            <a:ext cx="1900000" cy="1080000"/>
          </a:xfrm>
          <a:prstGeom prst="roundRect">
            <a:avLst>
              <a:gd name="adj" fmla="val 11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Officer review + live SLA</a:t>
            </a:r>
          </a:p>
        </p:txBody>
      </p:sp>
      <p:sp>
        <p:nvSpPr>
          <p:cNvPr id="17429" name="flowarrow17429"/>
          <p:cNvSpPr/>
          <p:nvPr/>
        </p:nvSpPr>
        <p:spPr>
          <a:xfrm>
            <a:off x="9445000" y="4035000"/>
            <a:ext cx="380000" cy="250000"/>
          </a:xfrm>
          <a:prstGeom prst="rightArrow">
            <a:avLst/>
          </a:prstGeom>
          <a:solidFill>
            <a:srgbClr val="F796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30" name="flowbox17430"/>
          <p:cNvSpPr/>
          <p:nvPr/>
        </p:nvSpPr>
        <p:spPr>
          <a:xfrm>
            <a:off x="9860000" y="3620000"/>
            <a:ext cx="1900000" cy="1080000"/>
          </a:xfrm>
          <a:prstGeom prst="roundRect">
            <a:avLst>
              <a:gd name="adj" fmla="val 11000"/>
            </a:avLst>
          </a:prstGeom>
          <a:solidFill>
            <a:srgbClr val="4F7A28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Deemed approval + dashboards</a:t>
            </a:r>
          </a:p>
        </p:txBody>
      </p:sp>
      <p:sp>
        <p:nvSpPr>
          <p:cNvPr id="17431" name="flowtext17431"/>
          <p:cNvSpPr txBox="1"/>
          <p:nvPr/>
        </p:nvSpPr>
        <p:spPr>
          <a:xfrm>
            <a:off x="460000" y="4920000"/>
            <a:ext cx="11100000" cy="7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150" b="0" i="1" dirty="0">
                <a:solidFill>
                  <a:srgbClr val="808080"/>
                </a:solidFill>
                <a:latin typeface="Arial" pitchFamily="34" charset="0"/>
                <a:cs typeface="Arial" pitchFamily="34" charset="0"/>
              </a:rPr>
              <a:t>Self-certifiable approvals clear instantly. If a department misses its statutory SLA, the licence is </a:t>
            </a:r>
            <a:r>
              <a:rPr lang="en-US" sz="1150" b="1" i="1" dirty="0">
                <a:solidFill>
                  <a:srgbClr val="808080"/>
                </a:solidFill>
                <a:latin typeface="Arial" pitchFamily="34" charset="0"/>
                <a:cs typeface="Arial" pitchFamily="34" charset="0"/>
              </a:rPr>
              <a:t>auto-approved (deemed approval)</a:t>
            </a:r>
            <a:r>
              <a:rPr lang="en-US" sz="1150" b="0" i="1" dirty="0">
                <a:solidFill>
                  <a:srgbClr val="808080"/>
                </a:solidFill>
                <a:latin typeface="Arial" pitchFamily="34" charset="0"/>
                <a:cs typeface="Arial" pitchFamily="34" charset="0"/>
              </a:rPr>
              <a:t> — so government delay can’t stall the entrepreneur.</a:t>
            </a:r>
          </a:p>
        </p:txBody>
      </p:sp>
      <p:sp>
        <p:nvSpPr>
          <p:cNvPr id="17441" name="s3stack"/>
          <p:cNvSpPr txBox="1"/>
          <p:nvPr/>
        </p:nvSpPr>
        <p:spPr>
          <a:xfrm>
            <a:off x="380000" y="1300000"/>
            <a:ext cx="5566000" cy="177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>
            <a:outerShdw blurRad="40000" dist="20000" dir="5400000" rotWithShape="0">
              <a:srgbClr val="808080">
                <a:alpha val="38000"/>
              </a:srgbClr>
            </a:outerShdw>
          </a:effectLst>
        </p:spPr>
        <p:txBody>
          <a:bodyPr wrap="square" lIns="137000" tIns="100000" rIns="110000" bIns="9000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50" b="1" i="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Technology stack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150" b="1" i="0" dirty="0">
                <a:latin typeface="Arial" pitchFamily="34" charset="0"/>
                <a:cs typeface="Arial" pitchFamily="34" charset="0"/>
              </a:rPr>
              <a:t xml:space="preserve">Frontend: </a:t>
            </a:r>
            <a:r>
              <a:rPr lang="en-US" sz="1150" b="0" i="0" dirty="0">
                <a:latin typeface="Arial" pitchFamily="34" charset="0"/>
                <a:cs typeface="Arial" pitchFamily="34" charset="0"/>
              </a:rPr>
              <a:t xml:space="preserve">Next.js 14 (React + TypeScript), Tailwind CSS.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150" b="1" i="0" dirty="0">
                <a:latin typeface="Arial" pitchFamily="34" charset="0"/>
                <a:cs typeface="Arial" pitchFamily="34" charset="0"/>
              </a:rPr>
              <a:t xml:space="preserve">Backend: </a:t>
            </a:r>
            <a:r>
              <a:rPr lang="en-US" sz="1150" b="0" i="0" dirty="0">
                <a:latin typeface="Arial" pitchFamily="34" charset="0"/>
                <a:cs typeface="Arial" pitchFamily="34" charset="0"/>
              </a:rPr>
              <a:t xml:space="preserve">Next.js server actions — API + logic in one codebase.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150" b="1" i="0" dirty="0">
                <a:latin typeface="Arial" pitchFamily="34" charset="0"/>
                <a:cs typeface="Arial" pitchFamily="34" charset="0"/>
              </a:rPr>
              <a:t xml:space="preserve">Data &amp; Auth: </a:t>
            </a:r>
            <a:r>
              <a:rPr lang="en-US" sz="1150" b="0" i="0" dirty="0">
                <a:latin typeface="Arial" pitchFamily="34" charset="0"/>
                <a:cs typeface="Arial" pitchFamily="34" charset="0"/>
              </a:rPr>
              <a:t xml:space="preserve">Supabase (PostgreSQL + Row-Level Security).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150" b="1" i="0" dirty="0">
                <a:latin typeface="Arial" pitchFamily="34" charset="0"/>
                <a:cs typeface="Arial" pitchFamily="34" charset="0"/>
              </a:rPr>
              <a:t xml:space="preserve">Engine: </a:t>
            </a:r>
            <a:r>
              <a:rPr lang="en-US" sz="1150" b="0" i="0" dirty="0">
                <a:latin typeface="Arial" pitchFamily="34" charset="0"/>
                <a:cs typeface="Arial" pitchFamily="34" charset="0"/>
              </a:rPr>
              <a:t xml:space="preserve">deterministic rules-as-data checklist (pure TypeScript). Analytics: Recharts · Hosting: Vercel.</a:t>
            </a:r>
          </a:p>
        </p:txBody>
      </p:sp>
      <p:sp>
        <p:nvSpPr>
          <p:cNvPr id="17442" name="s3gov"/>
          <p:cNvSpPr txBox="1"/>
          <p:nvPr/>
        </p:nvSpPr>
        <p:spPr>
          <a:xfrm>
            <a:off x="6246000" y="1300000"/>
            <a:ext cx="5566000" cy="177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F79646"/>
            </a:solidFill>
          </a:ln>
          <a:effectLst>
            <a:outerShdw blurRad="40000" dist="20000" dir="5400000" rotWithShape="0">
              <a:srgbClr val="808080">
                <a:alpha val="38000"/>
              </a:srgbClr>
            </a:outerShdw>
          </a:effectLst>
        </p:spPr>
        <p:txBody>
          <a:bodyPr wrap="square" lIns="137000" tIns="100000" rIns="110000" bIns="9000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50" b="1" i="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Platform &amp; governance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15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Role-based access</a:t>
            </a:r>
            <a:r>
              <a:rPr lang="en-US" sz="1150" b="0" i="0" dirty="0">
                <a:latin typeface="Arial" pitchFamily="34" charset="0"/>
                <a:cs typeface="Arial" pitchFamily="34" charset="0"/>
              </a:rPr>
              <a:t xml:space="preserve"> — Applicant · Officer · Nodal.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15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Full audit log</a:t>
            </a:r>
            <a:r>
              <a:rPr lang="en-US" sz="1150" b="0" i="0" dirty="0">
                <a:latin typeface="Arial" pitchFamily="34" charset="0"/>
                <a:cs typeface="Arial" pitchFamily="34" charset="0"/>
              </a:rPr>
              <a:t xml:space="preserve"> — every action time-stamped.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15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Risk-based scrutiny</a:t>
            </a:r>
            <a:r>
              <a:rPr lang="en-US" sz="1150" b="0" i="0" dirty="0">
                <a:latin typeface="Arial" pitchFamily="34" charset="0"/>
                <a:cs typeface="Arial" pitchFamily="34" charset="0"/>
              </a:rPr>
              <a:t xml:space="preserve"> — CPCB Red / Orange / Green / White categories.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15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Deterministic engine</a:t>
            </a:r>
            <a:r>
              <a:rPr lang="en-US" sz="1150" b="0" i="0" dirty="0">
                <a:latin typeface="Arial" pitchFamily="34" charset="0"/>
                <a:cs typeface="Arial" pitchFamily="34" charset="0"/>
              </a:rPr>
              <a:t xml:space="preserve"> — same inputs, same result; no black-box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9" name="s4feas"/>
          <p:cNvSpPr txBox="1"/>
          <p:nvPr/>
        </p:nvSpPr>
        <p:spPr>
          <a:xfrm>
            <a:off x="380000" y="1360000"/>
            <a:ext cx="5180000" cy="4180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>
            <a:outerShdw blurRad="40000" dist="20000" dir="5400000" rotWithShape="0">
              <a:srgbClr val="808080">
                <a:alpha val="38000"/>
              </a:srgbClr>
            </a:outerShdw>
          </a:effectLst>
        </p:spPr>
        <p:txBody>
          <a:bodyPr wrap="square" lIns="137000" tIns="110000" rIns="137000" bIns="9500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Feasibility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Technical — </a:t>
            </a:r>
            <a:r>
              <a:rPr lang="en-US" sz="1200" b="0" i="0" dirty="0">
                <a:latin typeface="Arial" pitchFamily="34" charset="0"/>
                <a:cs typeface="Arial" pitchFamily="34" charset="0"/>
              </a:rPr>
              <a:t xml:space="preserve">proven low-cost managed stack (Next.js + Supabase + Vercel); quick to build and scale; free tiers cover a pilot.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Operational — </a:t>
            </a:r>
            <a:r>
              <a:rPr lang="en-US" sz="1200" b="0" i="0" dirty="0">
                <a:latin typeface="Arial" pitchFamily="34" charset="0"/>
                <a:cs typeface="Arial" pitchFamily="34" charset="0"/>
              </a:rPr>
              <a:t xml:space="preserve">a working prototype already runs end-to-end across applicant, officer and nodal roles with seeded demo data.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Economic — </a:t>
            </a:r>
            <a:r>
              <a:rPr lang="en-US" sz="1200" b="0" i="0" dirty="0">
                <a:latin typeface="Arial" pitchFamily="34" charset="0"/>
                <a:cs typeface="Arial" pitchFamily="34" charset="0"/>
              </a:rPr>
              <a:t xml:space="preserve">rules-as-data means onboarding a new department or state is configuration, not re-coding.</a:t>
            </a:r>
          </a:p>
        </p:txBody>
      </p:sp>
      <p:sp>
        <p:nvSpPr>
          <p:cNvPr id="17420" name="s4hdr"/>
          <p:cNvSpPr txBox="1"/>
          <p:nvPr/>
        </p:nvSpPr>
        <p:spPr>
          <a:xfrm>
            <a:off x="5880000" y="1360000"/>
            <a:ext cx="5932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Challenges </a:t>
            </a:r>
            <a:r>
              <a:rPr lang="en-US" sz="1400" b="1" i="0" dirty="0">
                <a:solidFill>
                  <a:srgbClr val="F79646"/>
                </a:solidFill>
                <a:latin typeface="Arial" pitchFamily="34" charset="0"/>
                <a:cs typeface="Arial" pitchFamily="34" charset="0"/>
              </a:rPr>
              <a:t xml:space="preserve">→</a:t>
            </a:r>
            <a:r>
              <a:rPr lang="en-US" sz="1400" b="1" i="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 Solutions</a:t>
            </a:r>
          </a:p>
        </p:txBody>
      </p:sp>
      <p:sp>
        <p:nvSpPr>
          <p:cNvPr id="17421" name="s4card17421"/>
          <p:cNvSpPr txBox="1"/>
          <p:nvPr/>
        </p:nvSpPr>
        <p:spPr>
          <a:xfrm>
            <a:off x="5880000" y="1830000"/>
            <a:ext cx="2846000" cy="17700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9525">
            <a:solidFill>
              <a:srgbClr val="BFBFBF"/>
            </a:solidFill>
          </a:ln>
          <a:effectLst>
            <a:outerShdw blurRad="40000" dist="20000" dir="5400000" rotWithShape="0">
              <a:srgbClr val="808080">
                <a:alpha val="38000"/>
              </a:srgbClr>
            </a:outerShdw>
          </a:effectLst>
        </p:spPr>
        <p:txBody>
          <a:bodyPr wrap="square" lIns="118000" tIns="95000" rIns="118000" bIns="9500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15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Legal accuracy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 xml:space="preserve">Rules curated with domain / legal experts; a versioned audit trail keeps every change traceable.</a:t>
            </a:r>
          </a:p>
        </p:txBody>
      </p:sp>
      <p:sp>
        <p:nvSpPr>
          <p:cNvPr id="17422" name="s4card17422"/>
          <p:cNvSpPr txBox="1"/>
          <p:nvPr/>
        </p:nvSpPr>
        <p:spPr>
          <a:xfrm>
            <a:off x="8966000" y="1830000"/>
            <a:ext cx="2846000" cy="17700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9525">
            <a:solidFill>
              <a:srgbClr val="BFBFBF"/>
            </a:solidFill>
          </a:ln>
          <a:effectLst>
            <a:outerShdw blurRad="40000" dist="20000" dir="5400000" rotWithShape="0">
              <a:srgbClr val="808080">
                <a:alpha val="38000"/>
              </a:srgbClr>
            </a:outerShdw>
          </a:effectLst>
        </p:spPr>
        <p:txBody>
          <a:bodyPr wrap="square" lIns="118000" tIns="95000" rIns="118000" bIns="9500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15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Data silos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 xml:space="preserve">Integrate with NSWS, DigiLocker and e-Sign so documents flow between departments.</a:t>
            </a:r>
          </a:p>
        </p:txBody>
      </p:sp>
      <p:sp>
        <p:nvSpPr>
          <p:cNvPr id="17423" name="s4card17423"/>
          <p:cNvSpPr txBox="1"/>
          <p:nvPr/>
        </p:nvSpPr>
        <p:spPr>
          <a:xfrm>
            <a:off x="5880000" y="3820000"/>
            <a:ext cx="2846000" cy="17700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9525">
            <a:solidFill>
              <a:srgbClr val="BFBFBF"/>
            </a:solidFill>
          </a:ln>
          <a:effectLst>
            <a:outerShdw blurRad="40000" dist="20000" dir="5400000" rotWithShape="0">
              <a:srgbClr val="808080">
                <a:alpha val="38000"/>
              </a:srgbClr>
            </a:outerShdw>
          </a:effectLst>
        </p:spPr>
        <p:txBody>
          <a:bodyPr wrap="square" lIns="118000" tIns="95000" rIns="118000" bIns="9500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15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Officer adoption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 xml:space="preserve">A deliberately simple officer console; phased department-by-department rollout.</a:t>
            </a:r>
          </a:p>
        </p:txBody>
      </p:sp>
      <p:sp>
        <p:nvSpPr>
          <p:cNvPr id="17424" name="s4card17424"/>
          <p:cNvSpPr txBox="1"/>
          <p:nvPr/>
        </p:nvSpPr>
        <p:spPr>
          <a:xfrm>
            <a:off x="8966000" y="3820000"/>
            <a:ext cx="2846000" cy="17700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9525">
            <a:solidFill>
              <a:srgbClr val="BFBFBF"/>
            </a:solidFill>
          </a:ln>
          <a:effectLst>
            <a:outerShdw blurRad="40000" dist="20000" dir="5400000" rotWithShape="0">
              <a:srgbClr val="808080">
                <a:alpha val="38000"/>
              </a:srgbClr>
            </a:outerShdw>
          </a:effectLst>
        </p:spPr>
        <p:txBody>
          <a:bodyPr wrap="square" lIns="118000" tIns="95000" rIns="118000" bIns="9500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150" b="1" i="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 xml:space="preserve">Accountability &amp; delay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 xml:space="preserve">Deemed approval creates accountability without extra work for staff.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9" name="s5impact"/>
          <p:cNvSpPr txBox="1"/>
          <p:nvPr/>
        </p:nvSpPr>
        <p:spPr>
          <a:xfrm>
            <a:off x="380000" y="1340000"/>
            <a:ext cx="6120000" cy="174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>
            <a:outerShdw blurRad="40000" dist="20000" dir="5400000" rotWithShape="0">
              <a:srgbClr val="808080">
                <a:alpha val="38000"/>
              </a:srgbClr>
            </a:outerShdw>
          </a:effectLst>
        </p:spPr>
        <p:txBody>
          <a:bodyPr wrap="square" lIns="137000" tIns="100000" rIns="137000" bIns="9000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50" b="1" i="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Impact on the target audience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1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Entrepreneurs / MSMEs — </a:t>
            </a:r>
            <a:r>
              <a:rPr lang="en-US" sz="1150" b="0" i="0" dirty="0">
                <a:latin typeface="Arial" pitchFamily="34" charset="0"/>
                <a:cs typeface="Arial" pitchFamily="34" charset="0"/>
              </a:rPr>
              <a:t xml:space="preserve">know exactly what's needed; approvals in days, not months; no repeated paperwork or middlemen.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1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Government &amp; officers — </a:t>
            </a:r>
            <a:r>
              <a:rPr lang="en-US" sz="1150" b="0" i="0" dirty="0">
                <a:latin typeface="Arial" pitchFamily="34" charset="0"/>
                <a:cs typeface="Arial" pitchFamily="34" charset="0"/>
              </a:rPr>
              <a:t xml:space="preserve">cleaner risk-prioritised queues, less back-and-forth, a real-time view of where things are stuck.</a:t>
            </a:r>
          </a:p>
        </p:txBody>
      </p:sp>
      <p:sp>
        <p:nvSpPr>
          <p:cNvPr id="17420" name="s5benefits"/>
          <p:cNvSpPr txBox="1"/>
          <p:nvPr/>
        </p:nvSpPr>
        <p:spPr>
          <a:xfrm>
            <a:off x="380000" y="3190000"/>
            <a:ext cx="6120000" cy="2470000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>
            <a:outerShdw blurRad="40000" dist="20000" dir="5400000" rotWithShape="0">
              <a:srgbClr val="808080">
                <a:alpha val="38000"/>
              </a:srgbClr>
            </a:outerShdw>
          </a:effectLst>
        </p:spPr>
        <p:txBody>
          <a:bodyPr wrap="square" lIns="137000" tIns="100000" rIns="137000" bIns="9000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50" b="1" i="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Benefits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28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1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Economic — </a:t>
            </a:r>
            <a:r>
              <a:rPr lang="en-US" sz="1150" b="0" i="0" dirty="0">
                <a:latin typeface="Arial" pitchFamily="34" charset="0"/>
                <a:cs typeface="Arial" pitchFamily="34" charset="0"/>
              </a:rPr>
              <a:t xml:space="preserve">faster time-to-operations → quicker investment, jobs and a better ease-of-doing-business ranking.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28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1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Social — </a:t>
            </a:r>
            <a:r>
              <a:rPr lang="en-US" sz="1150" b="0" i="0" dirty="0">
                <a:latin typeface="Arial" pitchFamily="34" charset="0"/>
                <a:cs typeface="Arial" pitchFamily="34" charset="0"/>
              </a:rPr>
              <a:t xml:space="preserve">transparency and accountability; less discretion and corruption; equal access for small &amp; rural entrepreneurs.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28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1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Environmental — </a:t>
            </a:r>
            <a:r>
              <a:rPr lang="en-US" sz="1150" b="0" i="0" dirty="0">
                <a:latin typeface="Arial" pitchFamily="34" charset="0"/>
                <a:cs typeface="Arial" pitchFamily="34" charset="0"/>
              </a:rPr>
              <a:t xml:space="preserve">risk-based scrutiny targets inspections where pollution risk is real.</a:t>
            </a:r>
          </a:p>
          <a:p>
            <a:pPr marL="274320" indent="-27432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11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Governance — </a:t>
            </a:r>
            <a:r>
              <a:rPr lang="en-US" sz="1150" b="0" i="0" dirty="0">
                <a:latin typeface="Arial" pitchFamily="34" charset="0"/>
                <a:cs typeface="Arial" pitchFamily="34" charset="0"/>
              </a:rPr>
              <a:t xml:space="preserve">delay analytics drive data-informed policy; deemed approval enforces citizen-charter timelines.</a:t>
            </a:r>
          </a:p>
        </p:txBody>
      </p:sp>
      <p:sp>
        <p:nvSpPr>
          <p:cNvPr id="17421" name="s5phhdr"/>
          <p:cNvSpPr txBox="1"/>
          <p:nvPr/>
        </p:nvSpPr>
        <p:spPr>
          <a:xfrm>
            <a:off x="6820000" y="1340000"/>
            <a:ext cx="499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Prototype — live app</a:t>
            </a:r>
          </a:p>
        </p:txBody>
      </p:sp>
      <p:sp>
        <p:nvSpPr>
          <p:cNvPr id="17422" name="s5ph1"/>
          <p:cNvSpPr txBox="1"/>
          <p:nvPr/>
        </p:nvSpPr>
        <p:spPr>
          <a:xfrm>
            <a:off x="6820000" y="1720000"/>
            <a:ext cx="4992000" cy="1880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9050" cap="flat">
            <a:solidFill>
              <a:srgbClr val="4F81BD"/>
            </a:solidFill>
            <a:prstDash val="dash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260"/>
              </a:spcAft>
            </a:pPr>
            <a:r>
              <a:rPr lang="en-US" sz="1150" b="1" i="0" dirty="0">
                <a:solidFill>
                  <a:srgbClr val="4F81BD"/>
                </a:solidFill>
                <a:latin typeface="Arial" pitchFamily="34" charset="0"/>
                <a:cs typeface="Arial" pitchFamily="34" charset="0"/>
              </a:rPr>
              <a:t xml:space="preserve">[  screenshot  ]</a:t>
            </a:r>
          </a:p>
          <a:p>
            <a:pPr algn="ctr">
              <a:spcBef>
                <a:spcPts val="0"/>
              </a:spcBef>
              <a:spcAft>
                <a:spcPts val="180"/>
              </a:spcAft>
            </a:pPr>
            <a:r>
              <a:rPr lang="en-US" sz="12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KYA checklist &amp; one-click filing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0" i="1" dirty="0">
                <a:solidFill>
                  <a:srgbClr val="808080"/>
                </a:solidFill>
                <a:latin typeface="Arial" pitchFamily="34" charset="0"/>
                <a:cs typeface="Arial" pitchFamily="34" charset="0"/>
              </a:rPr>
              <a:t xml:space="preserve">paste your applicant-flow screenshot here</a:t>
            </a:r>
          </a:p>
        </p:txBody>
      </p:sp>
      <p:sp>
        <p:nvSpPr>
          <p:cNvPr id="17423" name="s5ph2"/>
          <p:cNvSpPr txBox="1"/>
          <p:nvPr/>
        </p:nvSpPr>
        <p:spPr>
          <a:xfrm>
            <a:off x="6820000" y="3760000"/>
            <a:ext cx="4992000" cy="1900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9050" cap="flat">
            <a:solidFill>
              <a:srgbClr val="4F81BD"/>
            </a:solidFill>
            <a:prstDash val="dash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260"/>
              </a:spcAft>
            </a:pPr>
            <a:r>
              <a:rPr lang="en-US" sz="1150" b="1" i="0" dirty="0">
                <a:solidFill>
                  <a:srgbClr val="4F81BD"/>
                </a:solidFill>
                <a:latin typeface="Arial" pitchFamily="34" charset="0"/>
                <a:cs typeface="Arial" pitchFamily="34" charset="0"/>
              </a:rPr>
              <a:t xml:space="preserve">[  screenshot  ]</a:t>
            </a:r>
          </a:p>
          <a:p>
            <a:pPr algn="ctr">
              <a:spcBef>
                <a:spcPts val="0"/>
              </a:spcBef>
              <a:spcAft>
                <a:spcPts val="180"/>
              </a:spcAft>
            </a:pPr>
            <a:r>
              <a:rPr lang="en-US" sz="12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Officer console &amp; nodal dashboard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0" i="1" dirty="0">
                <a:solidFill>
                  <a:srgbClr val="808080"/>
                </a:solidFill>
                <a:latin typeface="Arial" pitchFamily="34" charset="0"/>
                <a:cs typeface="Arial" pitchFamily="34" charset="0"/>
              </a:rPr>
              <a:t xml:space="preserve">paste your officer / analytics screenshot here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9" name="s6refs"/>
          <p:cNvSpPr txBox="1"/>
          <p:nvPr/>
        </p:nvSpPr>
        <p:spPr>
          <a:xfrm>
            <a:off x="380000" y="1340000"/>
            <a:ext cx="11432000" cy="4320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>
            <a:outerShdw blurRad="40000" dist="20000" dir="5400000" rotWithShape="0">
              <a:srgbClr val="808080">
                <a:alpha val="38000"/>
              </a:srgbClr>
            </a:outerShdw>
          </a:effectLst>
        </p:spPr>
        <p:txBody>
          <a:bodyPr wrap="square" lIns="160000" tIns="120000" rIns="137000" bIns="10000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550"/>
              </a:spcAft>
              <a:buNone/>
            </a:pPr>
            <a:r>
              <a:rPr lang="en-US" sz="1500" b="1" i="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References</a:t>
            </a:r>
          </a:p>
          <a:p>
            <a:pPr marL="520000" indent="-520000" algn="l">
              <a:lnSpc>
                <a:spcPct val="104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[1]  </a:t>
            </a:r>
            <a:r>
              <a:rPr lang="en-US" sz="1250" b="1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 xml:space="preserve">Smart India Hackathon 2026 Problem Statement</a:t>
            </a:r>
            <a:r>
              <a:rPr lang="en-US" sz="1250" b="0" i="0" dirty="0">
                <a:latin typeface="Arial" pitchFamily="34" charset="0"/>
                <a:cs typeface="Arial" pitchFamily="34" charset="0"/>
              </a:rPr>
              <a:t xml:space="preserve"> — streamlining industrial approvals, compliance &amp; access to government support services.</a:t>
            </a:r>
          </a:p>
          <a:p>
            <a:pPr marL="520000" indent="-520000" algn="l">
              <a:lnSpc>
                <a:spcPct val="104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[2]  </a:t>
            </a:r>
            <a:r>
              <a:rPr lang="en-US" sz="1250" b="1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 xml:space="preserve">National Single Window System (NSWS)</a:t>
            </a:r>
            <a:r>
              <a:rPr lang="en-US" sz="1250" b="0" i="0" dirty="0">
                <a:latin typeface="Arial" pitchFamily="34" charset="0"/>
                <a:cs typeface="Arial" pitchFamily="34" charset="0"/>
              </a:rPr>
              <a:t xml:space="preserve"> — </a:t>
            </a:r>
            <a:r>
              <a:rPr lang="en-US" sz="1250" b="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nsws.gov.in</a:t>
            </a:r>
            <a:r>
              <a:rPr lang="en-US" sz="1250" b="0" i="0" dirty="0">
                <a:latin typeface="Arial" pitchFamily="34" charset="0"/>
                <a:cs typeface="Arial" pitchFamily="34" charset="0"/>
              </a:rPr>
              <a:t xml:space="preserve">; the 'Know Your Approvals (KYA)' module.</a:t>
            </a:r>
          </a:p>
          <a:p>
            <a:pPr marL="520000" indent="-520000" algn="l">
              <a:lnSpc>
                <a:spcPct val="104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[3]  </a:t>
            </a:r>
            <a:r>
              <a:rPr lang="en-US" sz="1250" b="1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 xml:space="preserve">Telangana TS-iPASS</a:t>
            </a:r>
            <a:r>
              <a:rPr lang="en-US" sz="1250" b="0" i="0" dirty="0">
                <a:latin typeface="Arial" pitchFamily="34" charset="0"/>
                <a:cs typeface="Arial" pitchFamily="34" charset="0"/>
              </a:rPr>
              <a:t xml:space="preserve"> — statutory time-bound clearances with deemed approval.</a:t>
            </a:r>
          </a:p>
          <a:p>
            <a:pPr marL="520000" indent="-520000" algn="l">
              <a:lnSpc>
                <a:spcPct val="104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[4]  </a:t>
            </a:r>
            <a:r>
              <a:rPr lang="en-US" sz="1250" b="1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 xml:space="preserve">CPCB industry categorisation</a:t>
            </a:r>
            <a:r>
              <a:rPr lang="en-US" sz="1250" b="0" i="0" dirty="0">
                <a:latin typeface="Arial" pitchFamily="34" charset="0"/>
                <a:cs typeface="Arial" pitchFamily="34" charset="0"/>
              </a:rPr>
              <a:t xml:space="preserve"> — </a:t>
            </a:r>
            <a:r>
              <a:rPr lang="en-US" sz="1250" b="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 xml:space="preserve">cpcb.nic.in</a:t>
            </a:r>
            <a:r>
              <a:rPr lang="en-US" sz="1250" b="0" i="0" dirty="0">
                <a:latin typeface="Arial" pitchFamily="34" charset="0"/>
                <a:cs typeface="Arial" pitchFamily="34" charset="0"/>
              </a:rPr>
              <a:t xml:space="preserve"> (Red / Orange / Green / White — risk-based consent).</a:t>
            </a:r>
          </a:p>
          <a:p>
            <a:pPr marL="520000" indent="-520000" algn="l">
              <a:lnSpc>
                <a:spcPct val="104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[5]  </a:t>
            </a:r>
            <a:r>
              <a:rPr lang="en-US" sz="1250" b="1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 xml:space="preserve">DPIIT Ease of Doing Business</a:t>
            </a:r>
            <a:r>
              <a:rPr lang="en-US" sz="1250" b="0" i="0" dirty="0">
                <a:latin typeface="Arial" pitchFamily="34" charset="0"/>
                <a:cs typeface="Arial" pitchFamily="34" charset="0"/>
              </a:rPr>
              <a:t xml:space="preserve"> — Business Reforms Action Plan (BRAP).</a:t>
            </a:r>
          </a:p>
          <a:p>
            <a:pPr marL="520000" indent="-520000" algn="l">
              <a:lnSpc>
                <a:spcPct val="104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[6]  </a:t>
            </a:r>
            <a:r>
              <a:rPr lang="en-US" sz="1250" b="1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 xml:space="preserve">PM Gati Shakti &amp; India Industrial Land Bank</a:t>
            </a:r>
            <a:r>
              <a:rPr lang="en-US" sz="1250" b="0" i="0" dirty="0">
                <a:latin typeface="Arial" pitchFamily="34" charset="0"/>
                <a:cs typeface="Arial" pitchFamily="34" charset="0"/>
              </a:rPr>
              <a:t xml:space="preserve"> — spatial data for site / land-use checks.</a:t>
            </a:r>
          </a:p>
          <a:p>
            <a:pPr marL="520000" indent="-520000" algn="l">
              <a:lnSpc>
                <a:spcPct val="104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lang="en-US" sz="1250" b="1" i="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 xml:space="preserve">[7]  </a:t>
            </a:r>
            <a:r>
              <a:rPr lang="en-US" sz="1250" b="1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 xml:space="preserve">State single-window references</a:t>
            </a:r>
            <a:r>
              <a:rPr lang="en-US" sz="1250" b="0" i="0" dirty="0">
                <a:latin typeface="Arial" pitchFamily="34" charset="0"/>
                <a:cs typeface="Arial" pitchFamily="34" charset="0"/>
              </a:rPr>
              <a:t xml:space="preserve"> — Maharashtra MAITRI; Karnataka industrial portals.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